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3"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2" d="100"/>
          <a:sy n="72" d="100"/>
        </p:scale>
        <p:origin x="1350"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2" name="Picture 2" descr="\\DROBO-FS\QuickDrops\JB\PPTX NG\Droplets\LightingOverlay.png"/>
          <p:cNvPicPr>
            <a:picLocks noChangeAspect="1" noChangeArrowheads="1"/>
          </p:cNvPicPr>
          <p:nvPr/>
        </p:nvPicPr>
        <p:blipFill>
          <a:blip r:embed="rId2">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1" y="-1"/>
            <a:ext cx="9144002"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66" name="Group 65"/>
          <p:cNvGrpSpPr/>
          <p:nvPr/>
        </p:nvGrpSpPr>
        <p:grpSpPr>
          <a:xfrm>
            <a:off x="0" y="0"/>
            <a:ext cx="2305051" cy="6858001"/>
            <a:chOff x="0" y="0"/>
            <a:chExt cx="2305051" cy="6858001"/>
          </a:xfrm>
          <a:gradFill flip="none" rotWithShape="1">
            <a:gsLst>
              <a:gs pos="0">
                <a:schemeClr val="tx2"/>
              </a:gs>
              <a:gs pos="100000">
                <a:schemeClr val="tx2">
                  <a:lumMod val="50000"/>
                </a:schemeClr>
              </a:gs>
            </a:gsLst>
            <a:lin ang="5400000" scaled="0"/>
            <a:tileRect/>
          </a:gradFill>
        </p:grpSpPr>
        <p:sp>
          <p:nvSpPr>
            <p:cNvPr id="67" name="Rectangle 5"/>
            <p:cNvSpPr>
              <a:spLocks noChangeArrowheads="1"/>
            </p:cNvSpPr>
            <p:nvPr/>
          </p:nvSpPr>
          <p:spPr bwMode="auto">
            <a:xfrm>
              <a:off x="1209675"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68"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9"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70" name="Rectangle 8"/>
            <p:cNvSpPr>
              <a:spLocks noChangeArrowheads="1"/>
            </p:cNvSpPr>
            <p:nvPr/>
          </p:nvSpPr>
          <p:spPr bwMode="auto">
            <a:xfrm>
              <a:off x="414338" y="9525"/>
              <a:ext cx="28575" cy="44815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71"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72"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73"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74"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75"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76"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77"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78"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79"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80"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81"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82"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83"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84"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85"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86"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87"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88"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89"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90"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91"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92"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93"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94"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95"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96"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97"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98"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99"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00"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01"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02"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03"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04"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05"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06"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07"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08"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09"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10"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11"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12"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13"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14"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15"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16"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17"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18"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19"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20"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ctrTitle"/>
          </p:nvPr>
        </p:nvSpPr>
        <p:spPr>
          <a:xfrm>
            <a:off x="1900238" y="1122363"/>
            <a:ext cx="6593681"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900238" y="3602038"/>
            <a:ext cx="6593681"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5801052" y="5410202"/>
            <a:ext cx="2057400" cy="365125"/>
          </a:xfrm>
        </p:spPr>
        <p:txBody>
          <a:bodyPr/>
          <a:lstStyle/>
          <a:p>
            <a:fld id="{48A87A34-81AB-432B-8DAE-1953F412C126}" type="datetimeFigureOut">
              <a:rPr lang="en-US" smtClean="0"/>
              <a:t>7/29/2021</a:t>
            </a:fld>
            <a:endParaRPr lang="en-US" dirty="0"/>
          </a:p>
        </p:txBody>
      </p:sp>
      <p:sp>
        <p:nvSpPr>
          <p:cNvPr id="5" name="Footer Placeholder 4"/>
          <p:cNvSpPr>
            <a:spLocks noGrp="1"/>
          </p:cNvSpPr>
          <p:nvPr>
            <p:ph type="ftr" sz="quarter" idx="11"/>
          </p:nvPr>
        </p:nvSpPr>
        <p:spPr>
          <a:xfrm>
            <a:off x="1900237" y="5410202"/>
            <a:ext cx="3843665" cy="365125"/>
          </a:xfrm>
        </p:spPr>
        <p:txBody>
          <a:bodyPr/>
          <a:lstStyle/>
          <a:p>
            <a:endParaRPr lang="en-US" dirty="0"/>
          </a:p>
        </p:txBody>
      </p:sp>
      <p:sp>
        <p:nvSpPr>
          <p:cNvPr id="6" name="Slide Number Placeholder 5"/>
          <p:cNvSpPr>
            <a:spLocks noGrp="1"/>
          </p:cNvSpPr>
          <p:nvPr>
            <p:ph type="sldNum" sz="quarter" idx="12"/>
          </p:nvPr>
        </p:nvSpPr>
        <p:spPr>
          <a:xfrm>
            <a:off x="7915603" y="5410200"/>
            <a:ext cx="578317" cy="365125"/>
          </a:xfrm>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6668883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slow"/>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7" name="Title 1"/>
          <p:cNvSpPr>
            <a:spLocks noGrp="1"/>
          </p:cNvSpPr>
          <p:nvPr>
            <p:ph type="title"/>
          </p:nvPr>
        </p:nvSpPr>
        <p:spPr>
          <a:xfrm>
            <a:off x="856060" y="618518"/>
            <a:ext cx="7429499" cy="1478570"/>
          </a:xfrm>
        </p:spPr>
        <p:txBody>
          <a:bodyPr/>
          <a:lstStyle/>
          <a:p>
            <a:r>
              <a:rPr lang="en-US"/>
              <a:t>Click to edit Master title style</a:t>
            </a:r>
            <a:endParaRPr lang="en-US" dirty="0"/>
          </a:p>
        </p:txBody>
      </p:sp>
      <p:sp>
        <p:nvSpPr>
          <p:cNvPr id="48" name="Content Placeholder 2"/>
          <p:cNvSpPr>
            <a:spLocks noGrp="1"/>
          </p:cNvSpPr>
          <p:nvPr>
            <p:ph idx="1"/>
          </p:nvPr>
        </p:nvSpPr>
        <p:spPr>
          <a:xfrm>
            <a:off x="856060" y="2249487"/>
            <a:ext cx="742949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9" name="Date Placeholder 3"/>
          <p:cNvSpPr>
            <a:spLocks noGrp="1"/>
          </p:cNvSpPr>
          <p:nvPr>
            <p:ph type="dt" sz="half" idx="10"/>
          </p:nvPr>
        </p:nvSpPr>
        <p:spPr>
          <a:xfrm>
            <a:off x="5592691" y="5883277"/>
            <a:ext cx="2057400" cy="365125"/>
          </a:xfrm>
        </p:spPr>
        <p:txBody>
          <a:bodyPr/>
          <a:lstStyle/>
          <a:p>
            <a:fld id="{D87BE2FF-70AE-47C3-BF59-C71BA1F17CFB}" type="datetimeFigureOut">
              <a:rPr lang="en-US" smtClean="0"/>
              <a:t>7/29/2021</a:t>
            </a:fld>
            <a:endParaRPr lang="en-US"/>
          </a:p>
        </p:txBody>
      </p:sp>
      <p:sp>
        <p:nvSpPr>
          <p:cNvPr id="50" name="Footer Placeholder 4"/>
          <p:cNvSpPr>
            <a:spLocks noGrp="1"/>
          </p:cNvSpPr>
          <p:nvPr>
            <p:ph type="ftr" sz="quarter" idx="11"/>
          </p:nvPr>
        </p:nvSpPr>
        <p:spPr>
          <a:xfrm>
            <a:off x="856059" y="5883276"/>
            <a:ext cx="4679482" cy="365125"/>
          </a:xfrm>
        </p:spPr>
        <p:txBody>
          <a:bodyPr/>
          <a:lstStyle/>
          <a:p>
            <a:endParaRPr lang="en-US"/>
          </a:p>
        </p:txBody>
      </p:sp>
      <p:sp>
        <p:nvSpPr>
          <p:cNvPr id="51" name="Slide Number Placeholder 5"/>
          <p:cNvSpPr>
            <a:spLocks noGrp="1"/>
          </p:cNvSpPr>
          <p:nvPr>
            <p:ph type="sldNum" sz="quarter" idx="12"/>
          </p:nvPr>
        </p:nvSpPr>
        <p:spPr>
          <a:xfrm>
            <a:off x="7707241" y="5883275"/>
            <a:ext cx="578317" cy="365125"/>
          </a:xfrm>
        </p:spPr>
        <p:txBody>
          <a:bodyPr/>
          <a:lstStyle/>
          <a:p>
            <a:fld id="{3D26753A-36BA-4AA2-8506-B66DF853FF7F}" type="slidenum">
              <a:rPr lang="en-US" smtClean="0"/>
              <a:t>‹#›</a:t>
            </a:fld>
            <a:endParaRPr lang="en-US"/>
          </a:p>
        </p:txBody>
      </p:sp>
    </p:spTree>
    <p:extLst>
      <p:ext uri="{BB962C8B-B14F-4D97-AF65-F5344CB8AC3E}">
        <p14:creationId xmlns:p14="http://schemas.microsoft.com/office/powerpoint/2010/main" val="24598509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slow"/>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56058" y="1419227"/>
            <a:ext cx="74295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856058" y="4424362"/>
            <a:ext cx="74295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t>7/29/2021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9674236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slow"/>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56058" y="2249486"/>
            <a:ext cx="3658792"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1" y="2249486"/>
            <a:ext cx="3656408"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87BE2FF-70AE-47C3-BF59-C71BA1F17CFB}" type="datetimeFigureOut">
              <a:rPr lang="en-US" smtClean="0"/>
              <a:t>7/29/2021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D26753A-36BA-4AA2-8506-B66DF853FF7F}" type="slidenum">
              <a:rPr lang="en-US" smtClean="0"/>
              <a:t>‹#›</a:t>
            </a:fld>
            <a:endParaRPr lang="en-US"/>
          </a:p>
        </p:txBody>
      </p:sp>
    </p:spTree>
    <p:extLst>
      <p:ext uri="{BB962C8B-B14F-4D97-AF65-F5344CB8AC3E}">
        <p14:creationId xmlns:p14="http://schemas.microsoft.com/office/powerpoint/2010/main" val="39567932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slow"/>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56058" y="619127"/>
            <a:ext cx="74295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78902" y="2249486"/>
            <a:ext cx="3435949"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56058" y="3073398"/>
            <a:ext cx="3658793"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851992" y="2249485"/>
            <a:ext cx="3433565"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3073398"/>
            <a:ext cx="3656408"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87BE2FF-70AE-47C3-BF59-C71BA1F17CFB}" type="datetimeFigureOut">
              <a:rPr lang="en-US" smtClean="0"/>
              <a:t>7/29/2021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D26753A-36BA-4AA2-8506-B66DF853FF7F}" type="slidenum">
              <a:rPr lang="en-US" smtClean="0"/>
              <a:t>‹#›</a:t>
            </a:fld>
            <a:endParaRPr lang="en-US"/>
          </a:p>
        </p:txBody>
      </p:sp>
    </p:spTree>
    <p:extLst>
      <p:ext uri="{BB962C8B-B14F-4D97-AF65-F5344CB8AC3E}">
        <p14:creationId xmlns:p14="http://schemas.microsoft.com/office/powerpoint/2010/main" val="30471479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slow"/>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87BE2FF-70AE-47C3-BF59-C71BA1F17CFB}" type="datetimeFigureOut">
              <a:rPr lang="en-US" smtClean="0"/>
              <a:t>7/29/2021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D26753A-36BA-4AA2-8506-B66DF853FF7F}" type="slidenum">
              <a:rPr lang="en-US" smtClean="0"/>
              <a:t>‹#›</a:t>
            </a:fld>
            <a:endParaRPr lang="en-US"/>
          </a:p>
        </p:txBody>
      </p:sp>
    </p:spTree>
    <p:extLst>
      <p:ext uri="{BB962C8B-B14F-4D97-AF65-F5344CB8AC3E}">
        <p14:creationId xmlns:p14="http://schemas.microsoft.com/office/powerpoint/2010/main" val="36692407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slow"/>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87BE2FF-70AE-47C3-BF59-C71BA1F17CFB}" type="datetimeFigureOut">
              <a:rPr lang="en-US" smtClean="0"/>
              <a:t>7/29/2021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D26753A-36BA-4AA2-8506-B66DF853FF7F}" type="slidenum">
              <a:rPr lang="en-US" smtClean="0"/>
              <a:t>‹#›</a:t>
            </a:fld>
            <a:endParaRPr lang="en-US"/>
          </a:p>
        </p:txBody>
      </p:sp>
    </p:spTree>
    <p:extLst>
      <p:ext uri="{BB962C8B-B14F-4D97-AF65-F5344CB8AC3E}">
        <p14:creationId xmlns:p14="http://schemas.microsoft.com/office/powerpoint/2010/main" val="34638511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slow"/>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0029" y="609601"/>
            <a:ext cx="2892028"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67150" y="592666"/>
            <a:ext cx="4418407"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60029" y="2249486"/>
            <a:ext cx="2892028"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87BE2FF-70AE-47C3-BF59-C71BA1F17CFB}" type="datetimeFigureOut">
              <a:rPr lang="en-US" smtClean="0"/>
              <a:t>7/29/2021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D26753A-36BA-4AA2-8506-B66DF853FF7F}" type="slidenum">
              <a:rPr lang="en-US" smtClean="0"/>
              <a:t>‹#›</a:t>
            </a:fld>
            <a:endParaRPr lang="en-US"/>
          </a:p>
        </p:txBody>
      </p:sp>
    </p:spTree>
    <p:extLst>
      <p:ext uri="{BB962C8B-B14F-4D97-AF65-F5344CB8AC3E}">
        <p14:creationId xmlns:p14="http://schemas.microsoft.com/office/powerpoint/2010/main" val="19594781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slow"/>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56061" y="609600"/>
            <a:ext cx="3753962"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4832866" y="609600"/>
            <a:ext cx="3452693" cy="5181602"/>
          </a:xfrm>
          <a:prstGeom prst="round2DiagRect">
            <a:avLst>
              <a:gd name="adj1" fmla="val 6074"/>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856059" y="2249486"/>
            <a:ext cx="3753964"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87BE2FF-70AE-47C3-BF59-C71BA1F17CFB}" type="datetimeFigureOut">
              <a:rPr lang="en-US" smtClean="0"/>
              <a:t>7/29/2021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D26753A-36BA-4AA2-8506-B66DF853FF7F}" type="slidenum">
              <a:rPr lang="en-US" smtClean="0"/>
              <a:t>‹#›</a:t>
            </a:fld>
            <a:endParaRPr lang="en-US"/>
          </a:p>
        </p:txBody>
      </p:sp>
    </p:spTree>
    <p:extLst>
      <p:ext uri="{BB962C8B-B14F-4D97-AF65-F5344CB8AC3E}">
        <p14:creationId xmlns:p14="http://schemas.microsoft.com/office/powerpoint/2010/main" val="35145347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slow"/>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56058" y="4304665"/>
            <a:ext cx="7434266"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56058" y="606426"/>
            <a:ext cx="7434266" cy="3299778"/>
          </a:xfrm>
          <a:prstGeom prst="round2DiagRect">
            <a:avLst>
              <a:gd name="adj1" fmla="val 5101"/>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856024" y="5124020"/>
            <a:ext cx="7433144"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87BE2FF-70AE-47C3-BF59-C71BA1F17CFB}" type="datetimeFigureOut">
              <a:rPr lang="en-US" smtClean="0"/>
              <a:t>7/29/2021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D26753A-36BA-4AA2-8506-B66DF853FF7F}" type="slidenum">
              <a:rPr lang="en-US" smtClean="0"/>
              <a:t>‹#›</a:t>
            </a:fld>
            <a:endParaRPr lang="en-US"/>
          </a:p>
        </p:txBody>
      </p:sp>
    </p:spTree>
    <p:extLst>
      <p:ext uri="{BB962C8B-B14F-4D97-AF65-F5344CB8AC3E}">
        <p14:creationId xmlns:p14="http://schemas.microsoft.com/office/powerpoint/2010/main" val="19625698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856093" y="609600"/>
            <a:ext cx="7429466"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856058" y="4419600"/>
            <a:ext cx="7428344"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87BE2FF-70AE-47C3-BF59-C71BA1F17CFB}" type="datetimeFigureOut">
              <a:rPr lang="en-US" smtClean="0"/>
              <a:t>7/29/2021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D26753A-36BA-4AA2-8506-B66DF853FF7F}" type="slidenum">
              <a:rPr lang="en-US" smtClean="0"/>
              <a:t>‹#›</a:t>
            </a:fld>
            <a:endParaRPr lang="en-US"/>
          </a:p>
        </p:txBody>
      </p:sp>
    </p:spTree>
    <p:extLst>
      <p:ext uri="{BB962C8B-B14F-4D97-AF65-F5344CB8AC3E}">
        <p14:creationId xmlns:p14="http://schemas.microsoft.com/office/powerpoint/2010/main" val="199369382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84659" y="609600"/>
            <a:ext cx="6977064"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290484" y="3365557"/>
            <a:ext cx="6564224"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856058" y="4309919"/>
            <a:ext cx="74295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87BE2FF-70AE-47C3-BF59-C71BA1F17CFB}" type="datetimeFigureOut">
              <a:rPr lang="en-US" smtClean="0"/>
              <a:t>7/29/2021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D26753A-36BA-4AA2-8506-B66DF853FF7F}" type="slidenum">
              <a:rPr lang="en-US" smtClean="0"/>
              <a:t>‹#›</a:t>
            </a:fld>
            <a:endParaRPr lang="en-US"/>
          </a:p>
        </p:txBody>
      </p:sp>
      <p:sp>
        <p:nvSpPr>
          <p:cNvPr id="52" name="TextBox 51"/>
          <p:cNvSpPr txBox="1"/>
          <p:nvPr/>
        </p:nvSpPr>
        <p:spPr>
          <a:xfrm>
            <a:off x="696579" y="718458"/>
            <a:ext cx="4572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53" name="TextBox 52"/>
          <p:cNvSpPr txBox="1"/>
          <p:nvPr/>
        </p:nvSpPr>
        <p:spPr>
          <a:xfrm>
            <a:off x="7817473" y="2764972"/>
            <a:ext cx="4572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Tree>
    <p:extLst>
      <p:ext uri="{BB962C8B-B14F-4D97-AF65-F5344CB8AC3E}">
        <p14:creationId xmlns:p14="http://schemas.microsoft.com/office/powerpoint/2010/main" val="164082190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856058" y="2134042"/>
            <a:ext cx="74295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856023" y="4657655"/>
            <a:ext cx="7428379"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87BE2FF-70AE-47C3-BF59-C71BA1F17CFB}" type="datetimeFigureOut">
              <a:rPr lang="en-US" smtClean="0"/>
              <a:t>7/29/2021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D26753A-36BA-4AA2-8506-B66DF853FF7F}" type="slidenum">
              <a:rPr lang="en-US" smtClean="0"/>
              <a:t>‹#›</a:t>
            </a:fld>
            <a:endParaRPr lang="en-US"/>
          </a:p>
        </p:txBody>
      </p:sp>
    </p:spTree>
    <p:extLst>
      <p:ext uri="{BB962C8B-B14F-4D97-AF65-F5344CB8AC3E}">
        <p14:creationId xmlns:p14="http://schemas.microsoft.com/office/powerpoint/2010/main" val="51123899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856060" y="609600"/>
            <a:ext cx="7429499"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856058" y="2674463"/>
            <a:ext cx="2397674" cy="685800"/>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856059" y="3360263"/>
            <a:ext cx="2396432"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3386075" y="2677635"/>
            <a:ext cx="2388289" cy="685800"/>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3386075" y="3363435"/>
            <a:ext cx="238895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5889332" y="2674463"/>
            <a:ext cx="2396226" cy="685800"/>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5889332" y="3360263"/>
            <a:ext cx="2396226"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D87BE2FF-70AE-47C3-BF59-C71BA1F17CFB}" type="datetimeFigureOut">
              <a:rPr lang="en-US" smtClean="0"/>
              <a:t>7/29/2021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D26753A-36BA-4AA2-8506-B66DF853FF7F}" type="slidenum">
              <a:rPr lang="en-US" smtClean="0"/>
              <a:t>‹#›</a:t>
            </a:fld>
            <a:endParaRPr lang="en-US"/>
          </a:p>
        </p:txBody>
      </p:sp>
    </p:spTree>
    <p:extLst>
      <p:ext uri="{BB962C8B-B14F-4D97-AF65-F5344CB8AC3E}">
        <p14:creationId xmlns:p14="http://schemas.microsoft.com/office/powerpoint/2010/main" val="201002815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856059" y="609600"/>
            <a:ext cx="74294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856060" y="4404596"/>
            <a:ext cx="239643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856060" y="2666998"/>
            <a:ext cx="239643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18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856060" y="4980859"/>
            <a:ext cx="239643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3366790" y="4404596"/>
            <a:ext cx="24003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3366790" y="2666998"/>
            <a:ext cx="2399205"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18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3365695" y="4980857"/>
            <a:ext cx="24003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5889426" y="4404595"/>
            <a:ext cx="2393056"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5889332" y="2666998"/>
            <a:ext cx="2396227"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18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5889332" y="4980855"/>
            <a:ext cx="2396226"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D87BE2FF-70AE-47C3-BF59-C71BA1F17CFB}" type="datetimeFigureOut">
              <a:rPr lang="en-US" smtClean="0"/>
              <a:t>7/29/2021</a:t>
            </a:fld>
            <a:endParaRPr lang="en-US"/>
          </a:p>
        </p:txBody>
      </p:sp>
      <p:sp>
        <p:nvSpPr>
          <p:cNvPr id="4" name="Footer Placeholder 3"/>
          <p:cNvSpPr>
            <a:spLocks noGrp="1"/>
          </p:cNvSpPr>
          <p:nvPr>
            <p:ph type="ftr" sz="quarter" idx="11"/>
          </p:nvPr>
        </p:nvSpPr>
        <p:spPr/>
        <p:txBody>
          <a:bodyPr/>
          <a:lstStyle>
            <a:lvl1pPr>
              <a:defRPr cap="all" baseline="0"/>
            </a:lvl1pPr>
          </a:lstStyle>
          <a:p>
            <a:endParaRPr lang="en-US"/>
          </a:p>
        </p:txBody>
      </p:sp>
      <p:sp>
        <p:nvSpPr>
          <p:cNvPr id="5" name="Slide Number Placeholder 4"/>
          <p:cNvSpPr>
            <a:spLocks noGrp="1"/>
          </p:cNvSpPr>
          <p:nvPr>
            <p:ph type="sldNum" sz="quarter" idx="12"/>
          </p:nvPr>
        </p:nvSpPr>
        <p:spPr/>
        <p:txBody>
          <a:bodyPr/>
          <a:lstStyle/>
          <a:p>
            <a:fld id="{3D26753A-36BA-4AA2-8506-B66DF853FF7F}" type="slidenum">
              <a:rPr lang="en-US" smtClean="0"/>
              <a:t>‹#›</a:t>
            </a:fld>
            <a:endParaRPr lang="en-US"/>
          </a:p>
        </p:txBody>
      </p:sp>
    </p:spTree>
    <p:extLst>
      <p:ext uri="{BB962C8B-B14F-4D97-AF65-F5344CB8AC3E}">
        <p14:creationId xmlns:p14="http://schemas.microsoft.com/office/powerpoint/2010/main" val="403191571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87BE2FF-70AE-47C3-BF59-C71BA1F17CFB}" type="datetimeFigureOut">
              <a:rPr lang="en-US" smtClean="0"/>
              <a:t>7/29/2021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D26753A-36BA-4AA2-8506-B66DF853FF7F}" type="slidenum">
              <a:rPr lang="en-US" smtClean="0"/>
              <a:t>‹#›</a:t>
            </a:fld>
            <a:endParaRPr lang="en-US"/>
          </a:p>
        </p:txBody>
      </p:sp>
    </p:spTree>
    <p:extLst>
      <p:ext uri="{BB962C8B-B14F-4D97-AF65-F5344CB8AC3E}">
        <p14:creationId xmlns:p14="http://schemas.microsoft.com/office/powerpoint/2010/main" val="40282115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slow"/>
    </mc:Fallback>
  </mc:AlternateContent>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81801" y="609600"/>
            <a:ext cx="1503758"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56057" y="609600"/>
            <a:ext cx="5811443"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87BE2FF-70AE-47C3-BF59-C71BA1F17CFB}" type="datetimeFigureOut">
              <a:rPr lang="en-US" smtClean="0"/>
              <a:t>7/29/2021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D26753A-36BA-4AA2-8506-B66DF853FF7F}" type="slidenum">
              <a:rPr lang="en-US" smtClean="0"/>
              <a:t>‹#›</a:t>
            </a:fld>
            <a:endParaRPr lang="en-US"/>
          </a:p>
        </p:txBody>
      </p:sp>
    </p:spTree>
    <p:extLst>
      <p:ext uri="{BB962C8B-B14F-4D97-AF65-F5344CB8AC3E}">
        <p14:creationId xmlns:p14="http://schemas.microsoft.com/office/powerpoint/2010/main" val="40945956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slow"/>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1" y="-1"/>
            <a:ext cx="9144002"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8" name="Group 7"/>
          <p:cNvGrpSpPr/>
          <p:nvPr/>
        </p:nvGrpSpPr>
        <p:grpSpPr>
          <a:xfrm>
            <a:off x="-14288" y="0"/>
            <a:ext cx="9041774" cy="6858001"/>
            <a:chOff x="-14288" y="0"/>
            <a:chExt cx="9041774" cy="6858001"/>
          </a:xfrm>
          <a:gradFill flip="none" rotWithShape="1">
            <a:gsLst>
              <a:gs pos="0">
                <a:schemeClr val="tx2"/>
              </a:gs>
              <a:gs pos="100000">
                <a:schemeClr val="tx2">
                  <a:lumMod val="50000"/>
                </a:schemeClr>
              </a:gs>
            </a:gsLst>
            <a:lin ang="5400000" scaled="0"/>
            <a:tileRect/>
          </a:gradFill>
        </p:grpSpPr>
        <p:grpSp>
          <p:nvGrpSpPr>
            <p:cNvPr id="9" name="Group 8"/>
            <p:cNvGrpSpPr/>
            <p:nvPr/>
          </p:nvGrpSpPr>
          <p:grpSpPr>
            <a:xfrm>
              <a:off x="-14288" y="0"/>
              <a:ext cx="1220788" cy="6858001"/>
              <a:chOff x="-14288" y="0"/>
              <a:chExt cx="1220788" cy="6858001"/>
            </a:xfrm>
            <a:grp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grpSp>
          <p:nvGrpSpPr>
            <p:cNvPr id="10" name="Group 9"/>
            <p:cNvGrpSpPr/>
            <p:nvPr/>
          </p:nvGrpSpPr>
          <p:grpSpPr>
            <a:xfrm>
              <a:off x="8352798" y="0"/>
              <a:ext cx="674688" cy="6848476"/>
              <a:chOff x="11364912" y="0"/>
              <a:chExt cx="674688" cy="6848476"/>
            </a:xfrm>
            <a:grp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grpSp>
      </p:grpSp>
      <p:sp>
        <p:nvSpPr>
          <p:cNvPr id="2" name="Title Placeholder 1"/>
          <p:cNvSpPr>
            <a:spLocks noGrp="1"/>
          </p:cNvSpPr>
          <p:nvPr>
            <p:ph type="title"/>
          </p:nvPr>
        </p:nvSpPr>
        <p:spPr>
          <a:xfrm>
            <a:off x="856060" y="618518"/>
            <a:ext cx="7429499"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856060" y="2249487"/>
            <a:ext cx="74294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592691" y="5883277"/>
            <a:ext cx="20574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D87BE2FF-70AE-47C3-BF59-C71BA1F17CFB}" type="datetimeFigureOut">
              <a:rPr lang="en-US" smtClean="0"/>
              <a:t>7/29/2021</a:t>
            </a:fld>
            <a:endParaRPr lang="en-US"/>
          </a:p>
        </p:txBody>
      </p:sp>
      <p:sp>
        <p:nvSpPr>
          <p:cNvPr id="5" name="Footer Placeholder 4"/>
          <p:cNvSpPr>
            <a:spLocks noGrp="1"/>
          </p:cNvSpPr>
          <p:nvPr>
            <p:ph type="ftr" sz="quarter" idx="3"/>
          </p:nvPr>
        </p:nvSpPr>
        <p:spPr>
          <a:xfrm>
            <a:off x="856059" y="5883276"/>
            <a:ext cx="4679482"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7707241" y="5883275"/>
            <a:ext cx="578317"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3D26753A-36BA-4AA2-8506-B66DF853FF7F}" type="slidenum">
              <a:rPr lang="en-US" smtClean="0"/>
              <a:t>‹#›</a:t>
            </a:fld>
            <a:endParaRPr lang="en-US"/>
          </a:p>
        </p:txBody>
      </p:sp>
    </p:spTree>
    <p:extLst>
      <p:ext uri="{BB962C8B-B14F-4D97-AF65-F5344CB8AC3E}">
        <p14:creationId xmlns:p14="http://schemas.microsoft.com/office/powerpoint/2010/main" val="767372759"/>
      </p:ext>
    </p:extLst>
  </p:cSld>
  <p:clrMap bg1="dk1" tx1="lt1" bg2="dk2" tx2="lt2" accent1="accent1" accent2="accent2" accent3="accent3" accent4="accent4" accent5="accent5" accent6="accent6" hlink="hlink" folHlink="folHlink"/>
  <p:sldLayoutIdLst>
    <p:sldLayoutId id="2147483694" r:id="rId1"/>
    <p:sldLayoutId id="2147483695" r:id="rId2"/>
    <p:sldLayoutId id="2147483696" r:id="rId3"/>
    <p:sldLayoutId id="2147483697" r:id="rId4"/>
    <p:sldLayoutId id="2147483698" r:id="rId5"/>
    <p:sldLayoutId id="2147483699" r:id="rId6"/>
    <p:sldLayoutId id="2147483700" r:id="rId7"/>
    <p:sldLayoutId id="2147483701" r:id="rId8"/>
    <p:sldLayoutId id="2147483702" r:id="rId9"/>
    <p:sldLayoutId id="2147483703" r:id="rId10"/>
    <p:sldLayoutId id="2147483704" r:id="rId11"/>
    <p:sldLayoutId id="2147483705" r:id="rId12"/>
    <p:sldLayoutId id="2147483706" r:id="rId13"/>
    <p:sldLayoutId id="2147483707" r:id="rId14"/>
    <p:sldLayoutId id="2147483708" r:id="rId15"/>
    <p:sldLayoutId id="2147483709" r:id="rId16"/>
    <p:sldLayoutId id="2147483710" r:id="rId17"/>
  </p:sldLayoutIdLst>
  <mc:AlternateContent xmlns:mc="http://schemas.openxmlformats.org/markup-compatibility/2006" xmlns:p14="http://schemas.microsoft.com/office/powerpoint/2010/main">
    <mc:Choice Requires="p14">
      <p:transition spd="med" p14:dur="700">
        <p:fade/>
      </p:transition>
    </mc:Choice>
    <mc:Fallback xmlns="">
      <p:transition spd="slow"/>
    </mc:Fallback>
  </mc:AlternateConten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2.xml"/><Relationship Id="rId5" Type="http://schemas.openxmlformats.org/officeDocument/2006/relationships/hyperlink" Target="mailto:ali.Ismail@rhhs.edu.lb" TargetMode="External"/><Relationship Id="rId4" Type="http://schemas.openxmlformats.org/officeDocument/2006/relationships/image" Target="../media/image4.sv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6.sv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8.sv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10.sv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2.svg"/></Relationships>
</file>

<file path=ppt/slides/_rels/slide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22.jpeg"/></Relationships>
</file>

<file path=ppt/slides/_rels/slide1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408394-C884-4F79-8CAA-15D2CCBFC8D7}"/>
              </a:ext>
            </a:extLst>
          </p:cNvPr>
          <p:cNvSpPr>
            <a:spLocks noGrp="1"/>
          </p:cNvSpPr>
          <p:nvPr>
            <p:ph type="ctrTitle"/>
          </p:nvPr>
        </p:nvSpPr>
        <p:spPr/>
        <p:txBody>
          <a:bodyPr/>
          <a:lstStyle/>
          <a:p>
            <a:r>
              <a:rPr lang="en-US" dirty="0"/>
              <a:t>Automatic tree farm</a:t>
            </a:r>
          </a:p>
        </p:txBody>
      </p:sp>
      <p:sp>
        <p:nvSpPr>
          <p:cNvPr id="3" name="Subtitle 2">
            <a:extLst>
              <a:ext uri="{FF2B5EF4-FFF2-40B4-BE49-F238E27FC236}">
                <a16:creationId xmlns:a16="http://schemas.microsoft.com/office/drawing/2014/main" id="{883973C8-FFFA-4390-A0DF-FCD760ECD6D3}"/>
              </a:ext>
            </a:extLst>
          </p:cNvPr>
          <p:cNvSpPr>
            <a:spLocks noGrp="1"/>
          </p:cNvSpPr>
          <p:nvPr>
            <p:ph type="subTitle" idx="1"/>
          </p:nvPr>
        </p:nvSpPr>
        <p:spPr/>
        <p:txBody>
          <a:bodyPr>
            <a:normAutofit/>
          </a:bodyPr>
          <a:lstStyle/>
          <a:p>
            <a:r>
              <a:rPr lang="fr-FR" sz="2500" dirty="0"/>
              <a:t>Ali Ismail</a:t>
            </a:r>
          </a:p>
        </p:txBody>
      </p:sp>
    </p:spTree>
    <p:extLst>
      <p:ext uri="{BB962C8B-B14F-4D97-AF65-F5344CB8AC3E}">
        <p14:creationId xmlns:p14="http://schemas.microsoft.com/office/powerpoint/2010/main" val="14832820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48000"/>
                <a:hueMod val="106000"/>
                <a:satMod val="140000"/>
                <a:lumMod val="42000"/>
              </a:schemeClr>
              <a:schemeClr val="bg2">
                <a:tint val="98000"/>
                <a:hueMod val="92000"/>
                <a:satMod val="220000"/>
                <a:lumMod val="90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38C025-6F28-4D80-B99E-85CA2711FF33}"/>
              </a:ext>
            </a:extLst>
          </p:cNvPr>
          <p:cNvSpPr>
            <a:spLocks noGrp="1"/>
          </p:cNvSpPr>
          <p:nvPr>
            <p:ph type="title"/>
          </p:nvPr>
        </p:nvSpPr>
        <p:spPr>
          <a:xfrm>
            <a:off x="856059" y="618518"/>
            <a:ext cx="7429499" cy="1478570"/>
          </a:xfrm>
        </p:spPr>
        <p:txBody>
          <a:bodyPr>
            <a:normAutofit/>
          </a:bodyPr>
          <a:lstStyle/>
          <a:p>
            <a:r>
              <a:rPr lang="fr-FR" dirty="0"/>
              <a:t>About me</a:t>
            </a:r>
          </a:p>
        </p:txBody>
      </p:sp>
      <p:pic>
        <p:nvPicPr>
          <p:cNvPr id="5" name="Graphic 4" descr="Selfie Stick with solid fill">
            <a:extLst>
              <a:ext uri="{FF2B5EF4-FFF2-40B4-BE49-F238E27FC236}">
                <a16:creationId xmlns:a16="http://schemas.microsoft.com/office/drawing/2014/main" id="{ED40864A-FB86-4215-B36F-5C5AB35B3A7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56058" y="2265849"/>
            <a:ext cx="3516925" cy="3516925"/>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pic>
      <p:sp>
        <p:nvSpPr>
          <p:cNvPr id="3" name="Content Placeholder 2">
            <a:extLst>
              <a:ext uri="{FF2B5EF4-FFF2-40B4-BE49-F238E27FC236}">
                <a16:creationId xmlns:a16="http://schemas.microsoft.com/office/drawing/2014/main" id="{B0FDC50D-9C7E-44B6-BFAF-C60865109D77}"/>
              </a:ext>
            </a:extLst>
          </p:cNvPr>
          <p:cNvSpPr>
            <a:spLocks noGrp="1"/>
          </p:cNvSpPr>
          <p:nvPr>
            <p:ph idx="1"/>
          </p:nvPr>
        </p:nvSpPr>
        <p:spPr>
          <a:xfrm>
            <a:off x="4752545" y="2249487"/>
            <a:ext cx="3533012" cy="3541714"/>
          </a:xfrm>
        </p:spPr>
        <p:txBody>
          <a:bodyPr>
            <a:normAutofit/>
          </a:bodyPr>
          <a:lstStyle/>
          <a:p>
            <a:pPr marL="0" indent="0">
              <a:lnSpc>
                <a:spcPct val="110000"/>
              </a:lnSpc>
              <a:buNone/>
            </a:pPr>
            <a:r>
              <a:rPr lang="en-US" sz="2200"/>
              <a:t>-Name : Ali Ismail</a:t>
            </a:r>
          </a:p>
          <a:p>
            <a:pPr marL="0" indent="0">
              <a:lnSpc>
                <a:spcPct val="110000"/>
              </a:lnSpc>
              <a:buNone/>
            </a:pPr>
            <a:r>
              <a:rPr lang="en-US" sz="2200"/>
              <a:t>-Age : 15 years </a:t>
            </a:r>
          </a:p>
          <a:p>
            <a:pPr marL="0" indent="0">
              <a:lnSpc>
                <a:spcPct val="110000"/>
              </a:lnSpc>
              <a:buNone/>
            </a:pPr>
            <a:r>
              <a:rPr lang="en-US" sz="2200"/>
              <a:t>-location : Lebanon</a:t>
            </a:r>
          </a:p>
          <a:p>
            <a:pPr marL="0" indent="0">
              <a:lnSpc>
                <a:spcPct val="110000"/>
              </a:lnSpc>
              <a:buNone/>
            </a:pPr>
            <a:r>
              <a:rPr lang="en-US" sz="2200"/>
              <a:t>-age group : 15-18 group</a:t>
            </a:r>
          </a:p>
          <a:p>
            <a:pPr marL="0" indent="0">
              <a:lnSpc>
                <a:spcPct val="110000"/>
              </a:lnSpc>
              <a:buNone/>
            </a:pPr>
            <a:r>
              <a:rPr lang="en-US" sz="2200"/>
              <a:t>-email : </a:t>
            </a:r>
            <a:r>
              <a:rPr lang="en-US" sz="2200">
                <a:hlinkClick r:id="rId5"/>
              </a:rPr>
              <a:t>ali.Ismail@rhhs.edu.lb</a:t>
            </a:r>
            <a:endParaRPr lang="en-US" sz="2200"/>
          </a:p>
          <a:p>
            <a:pPr marL="0" indent="0">
              <a:lnSpc>
                <a:spcPct val="110000"/>
              </a:lnSpc>
              <a:buNone/>
            </a:pPr>
            <a:r>
              <a:rPr lang="en-US" sz="2200"/>
              <a:t>-goal : goal 13 climate action </a:t>
            </a:r>
          </a:p>
          <a:p>
            <a:pPr marL="0" indent="0">
              <a:lnSpc>
                <a:spcPct val="110000"/>
              </a:lnSpc>
              <a:buNone/>
            </a:pPr>
            <a:r>
              <a:rPr lang="en-US" sz="2200"/>
              <a:t> </a:t>
            </a:r>
          </a:p>
        </p:txBody>
      </p:sp>
    </p:spTree>
    <p:extLst>
      <p:ext uri="{BB962C8B-B14F-4D97-AF65-F5344CB8AC3E}">
        <p14:creationId xmlns:p14="http://schemas.microsoft.com/office/powerpoint/2010/main" val="13291119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slow"/>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48000"/>
                <a:hueMod val="106000"/>
                <a:satMod val="140000"/>
                <a:lumMod val="42000"/>
              </a:schemeClr>
              <a:schemeClr val="bg2">
                <a:tint val="98000"/>
                <a:hueMod val="92000"/>
                <a:satMod val="220000"/>
                <a:lumMod val="90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515A29-B412-491A-91CC-FABF48E19AF7}"/>
              </a:ext>
            </a:extLst>
          </p:cNvPr>
          <p:cNvSpPr>
            <a:spLocks noGrp="1"/>
          </p:cNvSpPr>
          <p:nvPr>
            <p:ph type="title"/>
          </p:nvPr>
        </p:nvSpPr>
        <p:spPr>
          <a:xfrm>
            <a:off x="3846482" y="618518"/>
            <a:ext cx="4641301" cy="1478570"/>
          </a:xfrm>
        </p:spPr>
        <p:txBody>
          <a:bodyPr>
            <a:normAutofit/>
          </a:bodyPr>
          <a:lstStyle/>
          <a:p>
            <a:r>
              <a:rPr lang="en-US" dirty="0"/>
              <a:t>The problem</a:t>
            </a:r>
          </a:p>
        </p:txBody>
      </p:sp>
      <p:sp>
        <p:nvSpPr>
          <p:cNvPr id="12" name="Round Diagonal Corner Rectangle 6">
            <a:extLst>
              <a:ext uri="{FF2B5EF4-FFF2-40B4-BE49-F238E27FC236}">
                <a16:creationId xmlns:a16="http://schemas.microsoft.com/office/drawing/2014/main" id="{F57FEC46-F8CB-4925-8DAC-B57A9F5CC2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0934" y="808057"/>
            <a:ext cx="2866072" cy="5234394"/>
          </a:xfrm>
          <a:prstGeom prst="round2DiagRect">
            <a:avLst>
              <a:gd name="adj1" fmla="val 11323"/>
              <a:gd name="adj2" fmla="val 0"/>
            </a:avLst>
          </a:prstGeom>
          <a:solidFill>
            <a:srgbClr val="FFFFFF"/>
          </a:solidFill>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Iceberg with solid fill">
            <a:extLst>
              <a:ext uri="{FF2B5EF4-FFF2-40B4-BE49-F238E27FC236}">
                <a16:creationId xmlns:a16="http://schemas.microsoft.com/office/drawing/2014/main" id="{DD4E9A06-DB82-4AD5-8148-8887FFA2CEF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44962" y="2234280"/>
            <a:ext cx="2383979" cy="2383979"/>
          </a:xfrm>
          <a:prstGeom prst="rect">
            <a:avLst/>
          </a:prstGeom>
        </p:spPr>
      </p:pic>
      <p:sp>
        <p:nvSpPr>
          <p:cNvPr id="9" name="Content Placeholder 8">
            <a:extLst>
              <a:ext uri="{FF2B5EF4-FFF2-40B4-BE49-F238E27FC236}">
                <a16:creationId xmlns:a16="http://schemas.microsoft.com/office/drawing/2014/main" id="{AEF5E9CA-FCD4-4379-BB6D-8F87BF94101C}"/>
              </a:ext>
            </a:extLst>
          </p:cNvPr>
          <p:cNvSpPr>
            <a:spLocks noGrp="1"/>
          </p:cNvSpPr>
          <p:nvPr>
            <p:ph idx="1"/>
          </p:nvPr>
        </p:nvSpPr>
        <p:spPr>
          <a:xfrm>
            <a:off x="3846482" y="2249487"/>
            <a:ext cx="4641301" cy="3541714"/>
          </a:xfrm>
        </p:spPr>
        <p:txBody>
          <a:bodyPr>
            <a:normAutofit lnSpcReduction="10000"/>
          </a:bodyPr>
          <a:lstStyle/>
          <a:p>
            <a:pPr marL="0" indent="0">
              <a:buNone/>
            </a:pPr>
            <a:r>
              <a:rPr lang="en-US" dirty="0"/>
              <a:t>Bush fires have many effects on the climate because of the CO2 defused in the air which is one of the green house gases. When there is a bush fire, green areas burn which mean there is no filtration of the CO2 defused in the air after the bush fire.  </a:t>
            </a:r>
          </a:p>
        </p:txBody>
      </p:sp>
    </p:spTree>
    <p:extLst>
      <p:ext uri="{BB962C8B-B14F-4D97-AF65-F5344CB8AC3E}">
        <p14:creationId xmlns:p14="http://schemas.microsoft.com/office/powerpoint/2010/main" val="1934990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slow"/>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48000"/>
                <a:hueMod val="106000"/>
                <a:satMod val="140000"/>
                <a:lumMod val="42000"/>
              </a:schemeClr>
              <a:schemeClr val="bg2">
                <a:tint val="98000"/>
                <a:hueMod val="92000"/>
                <a:satMod val="220000"/>
                <a:lumMod val="90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F83BD7-4D2D-465A-B6A3-5A83AC9CFA75}"/>
              </a:ext>
            </a:extLst>
          </p:cNvPr>
          <p:cNvSpPr>
            <a:spLocks noGrp="1"/>
          </p:cNvSpPr>
          <p:nvPr>
            <p:ph type="title"/>
          </p:nvPr>
        </p:nvSpPr>
        <p:spPr>
          <a:xfrm>
            <a:off x="443140" y="638650"/>
            <a:ext cx="2921296" cy="5507328"/>
          </a:xfrm>
        </p:spPr>
        <p:txBody>
          <a:bodyPr>
            <a:normAutofit/>
          </a:bodyPr>
          <a:lstStyle/>
          <a:p>
            <a:r>
              <a:rPr lang="en-US" sz="3300" dirty="0"/>
              <a:t>The Solution</a:t>
            </a:r>
          </a:p>
        </p:txBody>
      </p:sp>
      <p:sp>
        <p:nvSpPr>
          <p:cNvPr id="3" name="Content Placeholder 2">
            <a:extLst>
              <a:ext uri="{FF2B5EF4-FFF2-40B4-BE49-F238E27FC236}">
                <a16:creationId xmlns:a16="http://schemas.microsoft.com/office/drawing/2014/main" id="{1C95DED9-8DF1-409E-8ABD-8A0EE609BA56}"/>
              </a:ext>
            </a:extLst>
          </p:cNvPr>
          <p:cNvSpPr>
            <a:spLocks noGrp="1"/>
          </p:cNvSpPr>
          <p:nvPr>
            <p:ph idx="1"/>
          </p:nvPr>
        </p:nvSpPr>
        <p:spPr>
          <a:xfrm>
            <a:off x="3405557" y="638650"/>
            <a:ext cx="5275864" cy="3782778"/>
          </a:xfrm>
        </p:spPr>
        <p:txBody>
          <a:bodyPr>
            <a:normAutofit/>
          </a:bodyPr>
          <a:lstStyle/>
          <a:p>
            <a:pPr marL="0" indent="0">
              <a:buNone/>
            </a:pPr>
            <a:r>
              <a:rPr lang="en-US" dirty="0"/>
              <a:t>The solution of such a problem is by replanting the burned areas but the problem is by finding the right amount of tree to fill an area to reduce the CO2 level .</a:t>
            </a:r>
          </a:p>
        </p:txBody>
      </p:sp>
      <p:pic>
        <p:nvPicPr>
          <p:cNvPr id="5" name="Graphic 4" descr="Customer review with solid fill">
            <a:extLst>
              <a:ext uri="{FF2B5EF4-FFF2-40B4-BE49-F238E27FC236}">
                <a16:creationId xmlns:a16="http://schemas.microsoft.com/office/drawing/2014/main" id="{31FA87A7-BF78-4C70-83FE-71869524D6B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439478" y="3668567"/>
            <a:ext cx="2570921" cy="2570921"/>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pic>
    </p:spTree>
    <p:extLst>
      <p:ext uri="{BB962C8B-B14F-4D97-AF65-F5344CB8AC3E}">
        <p14:creationId xmlns:p14="http://schemas.microsoft.com/office/powerpoint/2010/main" val="16721709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slow"/>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48000"/>
                <a:hueMod val="106000"/>
                <a:satMod val="140000"/>
                <a:lumMod val="42000"/>
              </a:schemeClr>
              <a:schemeClr val="bg2">
                <a:tint val="98000"/>
                <a:hueMod val="92000"/>
                <a:satMod val="220000"/>
                <a:lumMod val="90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2C34B-D88A-4571-8F8D-54946A969D15}"/>
              </a:ext>
            </a:extLst>
          </p:cNvPr>
          <p:cNvSpPr>
            <a:spLocks noGrp="1"/>
          </p:cNvSpPr>
          <p:nvPr>
            <p:ph type="title"/>
          </p:nvPr>
        </p:nvSpPr>
        <p:spPr>
          <a:xfrm>
            <a:off x="3846482" y="618518"/>
            <a:ext cx="4641301" cy="1478570"/>
          </a:xfrm>
        </p:spPr>
        <p:txBody>
          <a:bodyPr>
            <a:normAutofit/>
          </a:bodyPr>
          <a:lstStyle/>
          <a:p>
            <a:r>
              <a:rPr lang="en-US" dirty="0"/>
              <a:t>The project idea</a:t>
            </a:r>
          </a:p>
        </p:txBody>
      </p:sp>
      <p:sp>
        <p:nvSpPr>
          <p:cNvPr id="12" name="Round Diagonal Corner Rectangle 6">
            <a:extLst>
              <a:ext uri="{FF2B5EF4-FFF2-40B4-BE49-F238E27FC236}">
                <a16:creationId xmlns:a16="http://schemas.microsoft.com/office/drawing/2014/main" id="{F57FEC46-F8CB-4925-8DAC-B57A9F5CC2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0934" y="808057"/>
            <a:ext cx="2866072" cy="5234394"/>
          </a:xfrm>
          <a:prstGeom prst="round2DiagRect">
            <a:avLst>
              <a:gd name="adj1" fmla="val 11323"/>
              <a:gd name="adj2" fmla="val 0"/>
            </a:avLst>
          </a:prstGeom>
          <a:solidFill>
            <a:srgbClr val="FFFFFF"/>
          </a:solidFill>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Head with gears outline">
            <a:extLst>
              <a:ext uri="{FF2B5EF4-FFF2-40B4-BE49-F238E27FC236}">
                <a16:creationId xmlns:a16="http://schemas.microsoft.com/office/drawing/2014/main" id="{4AB31135-9291-44B5-A9BC-131CDB2F1A4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44962" y="2234280"/>
            <a:ext cx="2383979" cy="2383979"/>
          </a:xfrm>
          <a:prstGeom prst="rect">
            <a:avLst/>
          </a:prstGeom>
        </p:spPr>
      </p:pic>
      <p:sp>
        <p:nvSpPr>
          <p:cNvPr id="9" name="Content Placeholder 8">
            <a:extLst>
              <a:ext uri="{FF2B5EF4-FFF2-40B4-BE49-F238E27FC236}">
                <a16:creationId xmlns:a16="http://schemas.microsoft.com/office/drawing/2014/main" id="{FC5B66D3-571B-4866-A115-0E8EC2BFD1DA}"/>
              </a:ext>
            </a:extLst>
          </p:cNvPr>
          <p:cNvSpPr>
            <a:spLocks noGrp="1"/>
          </p:cNvSpPr>
          <p:nvPr>
            <p:ph idx="1"/>
          </p:nvPr>
        </p:nvSpPr>
        <p:spPr>
          <a:xfrm>
            <a:off x="3846482" y="2249487"/>
            <a:ext cx="4641301" cy="3541714"/>
          </a:xfrm>
        </p:spPr>
        <p:txBody>
          <a:bodyPr>
            <a:normAutofit/>
          </a:bodyPr>
          <a:lstStyle/>
          <a:p>
            <a:pPr marL="0" indent="0">
              <a:buNone/>
            </a:pPr>
            <a:r>
              <a:rPr lang="en-US" dirty="0"/>
              <a:t>My project is a huge scale automatic tree farm, that uses a network of micro bits to control and maintain  the trees growth. This farm is always prepared for replanting especially after the bush fires.</a:t>
            </a:r>
          </a:p>
        </p:txBody>
      </p:sp>
    </p:spTree>
    <p:extLst>
      <p:ext uri="{BB962C8B-B14F-4D97-AF65-F5344CB8AC3E}">
        <p14:creationId xmlns:p14="http://schemas.microsoft.com/office/powerpoint/2010/main" val="8826340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slow"/>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48000"/>
                <a:hueMod val="106000"/>
                <a:satMod val="140000"/>
                <a:lumMod val="42000"/>
              </a:schemeClr>
              <a:schemeClr val="bg2">
                <a:tint val="98000"/>
                <a:hueMod val="92000"/>
                <a:satMod val="220000"/>
                <a:lumMod val="90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7F0A71-957C-46BC-9679-597E00828E72}"/>
              </a:ext>
            </a:extLst>
          </p:cNvPr>
          <p:cNvSpPr>
            <a:spLocks noGrp="1"/>
          </p:cNvSpPr>
          <p:nvPr>
            <p:ph type="title"/>
          </p:nvPr>
        </p:nvSpPr>
        <p:spPr>
          <a:xfrm>
            <a:off x="3846482" y="618518"/>
            <a:ext cx="4641301" cy="1478570"/>
          </a:xfrm>
        </p:spPr>
        <p:txBody>
          <a:bodyPr>
            <a:normAutofit/>
          </a:bodyPr>
          <a:lstStyle/>
          <a:p>
            <a:r>
              <a:rPr lang="en-US" dirty="0"/>
              <a:t>How it works</a:t>
            </a:r>
            <a:br>
              <a:rPr lang="en-US" dirty="0"/>
            </a:br>
            <a:r>
              <a:rPr lang="en-US" sz="3000" dirty="0"/>
              <a:t>design:</a:t>
            </a:r>
          </a:p>
        </p:txBody>
      </p:sp>
      <p:sp>
        <p:nvSpPr>
          <p:cNvPr id="17" name="Round Diagonal Corner Rectangle 6">
            <a:extLst>
              <a:ext uri="{FF2B5EF4-FFF2-40B4-BE49-F238E27FC236}">
                <a16:creationId xmlns:a16="http://schemas.microsoft.com/office/drawing/2014/main" id="{8B9E3A5D-C977-4BD8-ADF3-3F81150337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0934" y="808057"/>
            <a:ext cx="2866072" cy="5234394"/>
          </a:xfrm>
          <a:prstGeom prst="round2DiagRect">
            <a:avLst>
              <a:gd name="adj1" fmla="val 11323"/>
              <a:gd name="adj2" fmla="val 0"/>
            </a:avLst>
          </a:prstGeom>
          <a:solidFill>
            <a:srgbClr val="FFFFFF"/>
          </a:solidFill>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descr="Illustrator with solid fill">
            <a:extLst>
              <a:ext uri="{FF2B5EF4-FFF2-40B4-BE49-F238E27FC236}">
                <a16:creationId xmlns:a16="http://schemas.microsoft.com/office/drawing/2014/main" id="{71B4BD73-7015-4F1D-9079-32C631623DD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33775" y="1137622"/>
            <a:ext cx="2206352" cy="2206352"/>
          </a:xfrm>
          <a:prstGeom prst="rect">
            <a:avLst/>
          </a:prstGeom>
        </p:spPr>
      </p:pic>
      <p:pic>
        <p:nvPicPr>
          <p:cNvPr id="9" name="Graphic 8" descr="Web design with solid fill">
            <a:extLst>
              <a:ext uri="{FF2B5EF4-FFF2-40B4-BE49-F238E27FC236}">
                <a16:creationId xmlns:a16="http://schemas.microsoft.com/office/drawing/2014/main" id="{CE6FFE97-75EC-4DB9-82DB-8A8CE9DF58E3}"/>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33774" y="3508565"/>
            <a:ext cx="2206353" cy="2206353"/>
          </a:xfrm>
          <a:prstGeom prst="rect">
            <a:avLst/>
          </a:prstGeom>
        </p:spPr>
      </p:pic>
      <p:sp>
        <p:nvSpPr>
          <p:cNvPr id="3" name="Content Placeholder 2">
            <a:extLst>
              <a:ext uri="{FF2B5EF4-FFF2-40B4-BE49-F238E27FC236}">
                <a16:creationId xmlns:a16="http://schemas.microsoft.com/office/drawing/2014/main" id="{66C7A76B-5B49-4568-A103-291084E00203}"/>
              </a:ext>
            </a:extLst>
          </p:cNvPr>
          <p:cNvSpPr>
            <a:spLocks noGrp="1"/>
          </p:cNvSpPr>
          <p:nvPr>
            <p:ph idx="1"/>
          </p:nvPr>
        </p:nvSpPr>
        <p:spPr>
          <a:xfrm>
            <a:off x="3846482" y="2249486"/>
            <a:ext cx="4641301" cy="3989995"/>
          </a:xfrm>
        </p:spPr>
        <p:txBody>
          <a:bodyPr>
            <a:normAutofit/>
          </a:bodyPr>
          <a:lstStyle/>
          <a:p>
            <a:pPr marL="0" indent="0">
              <a:buNone/>
            </a:pPr>
            <a:r>
              <a:rPr lang="en-US" sz="2200" dirty="0"/>
              <a:t>It is an indoor vertical farm that plants trees in three layers of the same kind, each layer contain 6 trees. The watering system, temperature and the cameras are controlled by a network of micro bits. Everything is supervised by a human in the control room. </a:t>
            </a:r>
          </a:p>
        </p:txBody>
      </p:sp>
    </p:spTree>
    <p:extLst>
      <p:ext uri="{BB962C8B-B14F-4D97-AF65-F5344CB8AC3E}">
        <p14:creationId xmlns:p14="http://schemas.microsoft.com/office/powerpoint/2010/main" val="12379136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slow"/>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586FC6-AAE9-47CB-B046-AD967C8C67E5}"/>
              </a:ext>
            </a:extLst>
          </p:cNvPr>
          <p:cNvSpPr>
            <a:spLocks noGrp="1"/>
          </p:cNvSpPr>
          <p:nvPr>
            <p:ph type="title"/>
          </p:nvPr>
        </p:nvSpPr>
        <p:spPr>
          <a:xfrm>
            <a:off x="856060" y="618518"/>
            <a:ext cx="7429499" cy="45719"/>
          </a:xfrm>
        </p:spPr>
        <p:txBody>
          <a:bodyPr>
            <a:normAutofit fontScale="90000"/>
          </a:bodyPr>
          <a:lstStyle/>
          <a:p>
            <a:endParaRPr lang="en-US" dirty="0"/>
          </a:p>
        </p:txBody>
      </p:sp>
      <p:pic>
        <p:nvPicPr>
          <p:cNvPr id="6" name="Content Placeholder 5" descr="Diagram&#10;&#10;Description automatically generated">
            <a:extLst>
              <a:ext uri="{FF2B5EF4-FFF2-40B4-BE49-F238E27FC236}">
                <a16:creationId xmlns:a16="http://schemas.microsoft.com/office/drawing/2014/main" id="{CBDDDC90-F35D-4602-BC45-F8EEFD24821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9026" y="172278"/>
            <a:ext cx="8825947" cy="6533322"/>
          </a:xfrm>
        </p:spPr>
      </p:pic>
    </p:spTree>
    <p:extLst>
      <p:ext uri="{BB962C8B-B14F-4D97-AF65-F5344CB8AC3E}">
        <p14:creationId xmlns:p14="http://schemas.microsoft.com/office/powerpoint/2010/main" val="40227786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slow"/>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C73A56-B2B6-425B-8078-7CEECB136777}"/>
              </a:ext>
            </a:extLst>
          </p:cNvPr>
          <p:cNvSpPr>
            <a:spLocks noGrp="1"/>
          </p:cNvSpPr>
          <p:nvPr>
            <p:ph type="title"/>
          </p:nvPr>
        </p:nvSpPr>
        <p:spPr/>
        <p:txBody>
          <a:bodyPr>
            <a:normAutofit/>
          </a:bodyPr>
          <a:lstStyle/>
          <a:p>
            <a:r>
              <a:rPr lang="en-US" dirty="0"/>
              <a:t>How it works</a:t>
            </a:r>
            <a:br>
              <a:rPr lang="en-US" dirty="0"/>
            </a:br>
            <a:r>
              <a:rPr lang="en-US" sz="3000" dirty="0"/>
              <a:t>Micro bit network:</a:t>
            </a:r>
          </a:p>
        </p:txBody>
      </p:sp>
      <p:sp>
        <p:nvSpPr>
          <p:cNvPr id="3" name="Content Placeholder 2">
            <a:extLst>
              <a:ext uri="{FF2B5EF4-FFF2-40B4-BE49-F238E27FC236}">
                <a16:creationId xmlns:a16="http://schemas.microsoft.com/office/drawing/2014/main" id="{E7A24928-7CDD-4313-9BAC-BF6901E0D324}"/>
              </a:ext>
            </a:extLst>
          </p:cNvPr>
          <p:cNvSpPr>
            <a:spLocks noGrp="1"/>
          </p:cNvSpPr>
          <p:nvPr>
            <p:ph idx="1"/>
          </p:nvPr>
        </p:nvSpPr>
        <p:spPr>
          <a:xfrm>
            <a:off x="856060" y="1828800"/>
            <a:ext cx="7429499" cy="5029200"/>
          </a:xfrm>
        </p:spPr>
        <p:txBody>
          <a:bodyPr>
            <a:normAutofit/>
          </a:bodyPr>
          <a:lstStyle/>
          <a:p>
            <a:pPr marL="0" indent="0">
              <a:buNone/>
            </a:pPr>
            <a:r>
              <a:rPr lang="en-US" dirty="0"/>
              <a:t>The network is formed of three micro bits (micro bit 1-2-3) for each vertical farm.</a:t>
            </a:r>
          </a:p>
          <a:p>
            <a:pPr marL="0" indent="0">
              <a:buNone/>
            </a:pPr>
            <a:r>
              <a:rPr lang="en-US" dirty="0"/>
              <a:t>-micro bit 1:</a:t>
            </a:r>
          </a:p>
          <a:p>
            <a:pPr marL="0" indent="0">
              <a:buNone/>
            </a:pPr>
            <a:endParaRPr lang="en-US" dirty="0"/>
          </a:p>
          <a:p>
            <a:pPr marL="0" indent="0">
              <a:buNone/>
            </a:pPr>
            <a:r>
              <a:rPr lang="en-US" dirty="0"/>
              <a:t>Micro bit 1 has the role of tracking the humidity of the soil of one plant (it applies to all other plants since all are of the same kind). When the humidity gets less then 40%, the micro bit sends a message to micro bit 2.</a:t>
            </a:r>
          </a:p>
          <a:p>
            <a:pPr marL="0" indent="0">
              <a:buNone/>
            </a:pPr>
            <a:r>
              <a:rPr lang="en-US" dirty="0"/>
              <a:t>Micro bit 1 measures the temperature and display it using the servo motor 1 in the control room.</a:t>
            </a:r>
          </a:p>
        </p:txBody>
      </p:sp>
      <p:sp>
        <p:nvSpPr>
          <p:cNvPr id="7" name="TextBox 6">
            <a:extLst>
              <a:ext uri="{FF2B5EF4-FFF2-40B4-BE49-F238E27FC236}">
                <a16:creationId xmlns:a16="http://schemas.microsoft.com/office/drawing/2014/main" id="{70E015B8-784C-41BE-A2F5-A0F05AE6EB70}"/>
              </a:ext>
            </a:extLst>
          </p:cNvPr>
          <p:cNvSpPr txBox="1"/>
          <p:nvPr/>
        </p:nvSpPr>
        <p:spPr>
          <a:xfrm>
            <a:off x="2358887" y="2828835"/>
            <a:ext cx="6493565" cy="1200329"/>
          </a:xfrm>
          <a:prstGeom prst="rect">
            <a:avLst/>
          </a:prstGeom>
          <a:noFill/>
        </p:spPr>
        <p:txBody>
          <a:bodyPr wrap="square" rtlCol="0">
            <a:spAutoFit/>
          </a:bodyPr>
          <a:lstStyle/>
          <a:p>
            <a:r>
              <a:rPr lang="en-US" sz="2400" dirty="0"/>
              <a:t>-connected to micro bit 2 by radio signals.</a:t>
            </a:r>
          </a:p>
          <a:p>
            <a:r>
              <a:rPr lang="en-US" sz="2400" dirty="0"/>
              <a:t>-connected to humidity sensor, servo motor 1.</a:t>
            </a:r>
          </a:p>
          <a:p>
            <a:r>
              <a:rPr lang="en-US" sz="2400" dirty="0"/>
              <a:t>-the temperature sensor inside the micro bit 1.</a:t>
            </a:r>
          </a:p>
        </p:txBody>
      </p:sp>
      <p:pic>
        <p:nvPicPr>
          <p:cNvPr id="1026" name="Picture 2" descr="Micro:bit Educational Foundation | micro:bit">
            <a:extLst>
              <a:ext uri="{FF2B5EF4-FFF2-40B4-BE49-F238E27FC236}">
                <a16:creationId xmlns:a16="http://schemas.microsoft.com/office/drawing/2014/main" id="{40D4493F-89EE-4166-859F-A05EC793903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591088">
            <a:off x="5844220" y="239229"/>
            <a:ext cx="1948089" cy="1427607"/>
          </a:xfrm>
          <a:prstGeom prst="rect">
            <a:avLst/>
          </a:prstGeom>
          <a:noFill/>
          <a:ln>
            <a:no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057338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slow"/>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8881EE-51C1-4F9E-900B-06014262DF8D}"/>
              </a:ext>
            </a:extLst>
          </p:cNvPr>
          <p:cNvSpPr>
            <a:spLocks noGrp="1"/>
          </p:cNvSpPr>
          <p:nvPr>
            <p:ph type="title"/>
          </p:nvPr>
        </p:nvSpPr>
        <p:spPr>
          <a:xfrm>
            <a:off x="856060" y="618518"/>
            <a:ext cx="151105" cy="45719"/>
          </a:xfrm>
        </p:spPr>
        <p:txBody>
          <a:bodyPr>
            <a:normAutofit fontScale="90000"/>
          </a:bodyPr>
          <a:lstStyle/>
          <a:p>
            <a:endParaRPr lang="en-US" dirty="0"/>
          </a:p>
        </p:txBody>
      </p:sp>
      <p:pic>
        <p:nvPicPr>
          <p:cNvPr id="7" name="Content Placeholder 6" descr="Diagram&#10;&#10;Description automatically generated">
            <a:extLst>
              <a:ext uri="{FF2B5EF4-FFF2-40B4-BE49-F238E27FC236}">
                <a16:creationId xmlns:a16="http://schemas.microsoft.com/office/drawing/2014/main" id="{7157779D-BDAB-4164-8D03-CC896B6A96A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9027" y="185530"/>
            <a:ext cx="8825948" cy="6520069"/>
          </a:xfrm>
        </p:spPr>
      </p:pic>
    </p:spTree>
    <p:extLst>
      <p:ext uri="{BB962C8B-B14F-4D97-AF65-F5344CB8AC3E}">
        <p14:creationId xmlns:p14="http://schemas.microsoft.com/office/powerpoint/2010/main" val="12704136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slow"/>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9A0893-8416-48D8-8DA9-F1583BCD5BE7}"/>
              </a:ext>
            </a:extLst>
          </p:cNvPr>
          <p:cNvSpPr>
            <a:spLocks noGrp="1"/>
          </p:cNvSpPr>
          <p:nvPr>
            <p:ph type="title"/>
          </p:nvPr>
        </p:nvSpPr>
        <p:spPr/>
        <p:txBody>
          <a:bodyPr/>
          <a:lstStyle/>
          <a:p>
            <a:r>
              <a:rPr lang="en-US" dirty="0"/>
              <a:t>How it works</a:t>
            </a:r>
            <a:br>
              <a:rPr lang="en-US" dirty="0"/>
            </a:br>
            <a:r>
              <a:rPr lang="en-US" dirty="0"/>
              <a:t>micro bit network</a:t>
            </a:r>
          </a:p>
        </p:txBody>
      </p:sp>
      <p:sp>
        <p:nvSpPr>
          <p:cNvPr id="3" name="Content Placeholder 2">
            <a:extLst>
              <a:ext uri="{FF2B5EF4-FFF2-40B4-BE49-F238E27FC236}">
                <a16:creationId xmlns:a16="http://schemas.microsoft.com/office/drawing/2014/main" id="{2AE82150-CE79-4962-B0E6-B1812E747B71}"/>
              </a:ext>
            </a:extLst>
          </p:cNvPr>
          <p:cNvSpPr>
            <a:spLocks noGrp="1"/>
          </p:cNvSpPr>
          <p:nvPr>
            <p:ph idx="1"/>
          </p:nvPr>
        </p:nvSpPr>
        <p:spPr>
          <a:xfrm>
            <a:off x="856060" y="2249486"/>
            <a:ext cx="7429499" cy="4608513"/>
          </a:xfrm>
        </p:spPr>
        <p:txBody>
          <a:bodyPr>
            <a:normAutofit/>
          </a:bodyPr>
          <a:lstStyle/>
          <a:p>
            <a:pPr marL="0" indent="0">
              <a:buNone/>
            </a:pPr>
            <a:r>
              <a:rPr lang="en-US" dirty="0"/>
              <a:t>-micro bit 2:</a:t>
            </a:r>
          </a:p>
          <a:p>
            <a:pPr marL="0" indent="0">
              <a:buNone/>
            </a:pPr>
            <a:endParaRPr lang="en-US" dirty="0"/>
          </a:p>
          <a:p>
            <a:pPr marL="0" indent="0">
              <a:buNone/>
            </a:pPr>
            <a:r>
              <a:rPr lang="en-US" dirty="0"/>
              <a:t>Micro bit 2 is the controller of the camera motors (servo motors 2-3-4 connected to micro bit 3. When button A or B is pressed, micro bit 2 sends a message to micro bit 3.</a:t>
            </a:r>
          </a:p>
          <a:p>
            <a:pPr marL="0" indent="0">
              <a:buNone/>
            </a:pPr>
            <a:r>
              <a:rPr lang="en-US" dirty="0"/>
              <a:t>Micro bit 2 receives the message from micro bit 1and turn on the water pump for 15 seconds.</a:t>
            </a:r>
          </a:p>
        </p:txBody>
      </p:sp>
      <p:sp>
        <p:nvSpPr>
          <p:cNvPr id="5" name="TextBox 4">
            <a:extLst>
              <a:ext uri="{FF2B5EF4-FFF2-40B4-BE49-F238E27FC236}">
                <a16:creationId xmlns:a16="http://schemas.microsoft.com/office/drawing/2014/main" id="{FD0E8AB0-A9D8-45CF-9045-4314AC5BB306}"/>
              </a:ext>
            </a:extLst>
          </p:cNvPr>
          <p:cNvSpPr txBox="1"/>
          <p:nvPr/>
        </p:nvSpPr>
        <p:spPr>
          <a:xfrm>
            <a:off x="2385391" y="2286001"/>
            <a:ext cx="6255026" cy="1200329"/>
          </a:xfrm>
          <a:prstGeom prst="rect">
            <a:avLst/>
          </a:prstGeom>
          <a:noFill/>
        </p:spPr>
        <p:txBody>
          <a:bodyPr wrap="square" rtlCol="0">
            <a:spAutoFit/>
          </a:bodyPr>
          <a:lstStyle/>
          <a:p>
            <a:r>
              <a:rPr lang="en-US" sz="2400" dirty="0"/>
              <a:t>-connected to micro bit 1-3 through radio signals.</a:t>
            </a:r>
          </a:p>
          <a:p>
            <a:r>
              <a:rPr lang="en-US" sz="2400" dirty="0"/>
              <a:t>-connected to a water pump.</a:t>
            </a:r>
          </a:p>
          <a:p>
            <a:endParaRPr lang="en-US" sz="2400" dirty="0"/>
          </a:p>
        </p:txBody>
      </p:sp>
      <p:pic>
        <p:nvPicPr>
          <p:cNvPr id="2050" name="Picture 2" descr="Micro:bit Educational Foundation | micro:bit">
            <a:extLst>
              <a:ext uri="{FF2B5EF4-FFF2-40B4-BE49-F238E27FC236}">
                <a16:creationId xmlns:a16="http://schemas.microsoft.com/office/drawing/2014/main" id="{00235A94-4D54-42DA-B717-F5FF1463F21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1324660">
            <a:off x="5733551" y="387319"/>
            <a:ext cx="2183365" cy="16000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138522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slow"/>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C9C637-3EB7-40B6-94C0-371FCC86FBB1}"/>
              </a:ext>
            </a:extLst>
          </p:cNvPr>
          <p:cNvSpPr>
            <a:spLocks noGrp="1"/>
          </p:cNvSpPr>
          <p:nvPr>
            <p:ph type="title"/>
          </p:nvPr>
        </p:nvSpPr>
        <p:spPr/>
        <p:txBody>
          <a:bodyPr/>
          <a:lstStyle/>
          <a:p>
            <a:r>
              <a:rPr lang="en-US" dirty="0"/>
              <a:t>How it works</a:t>
            </a:r>
            <a:br>
              <a:rPr lang="en-US" dirty="0"/>
            </a:br>
            <a:r>
              <a:rPr lang="en-US" dirty="0"/>
              <a:t>micro bit network</a:t>
            </a:r>
          </a:p>
        </p:txBody>
      </p:sp>
      <p:sp>
        <p:nvSpPr>
          <p:cNvPr id="3" name="Content Placeholder 2">
            <a:extLst>
              <a:ext uri="{FF2B5EF4-FFF2-40B4-BE49-F238E27FC236}">
                <a16:creationId xmlns:a16="http://schemas.microsoft.com/office/drawing/2014/main" id="{04A64197-F95A-4503-B17D-4AADF22513D4}"/>
              </a:ext>
            </a:extLst>
          </p:cNvPr>
          <p:cNvSpPr>
            <a:spLocks noGrp="1"/>
          </p:cNvSpPr>
          <p:nvPr>
            <p:ph idx="1"/>
          </p:nvPr>
        </p:nvSpPr>
        <p:spPr/>
        <p:txBody>
          <a:bodyPr/>
          <a:lstStyle/>
          <a:p>
            <a:pPr marL="0" indent="0">
              <a:buNone/>
            </a:pPr>
            <a:r>
              <a:rPr lang="en-US" dirty="0"/>
              <a:t>-micro bit 3:</a:t>
            </a:r>
          </a:p>
          <a:p>
            <a:pPr marL="0" indent="0">
              <a:buNone/>
            </a:pPr>
            <a:endParaRPr lang="en-US" dirty="0"/>
          </a:p>
          <a:p>
            <a:pPr marL="0" indent="0">
              <a:buNone/>
            </a:pPr>
            <a:r>
              <a:rPr lang="en-US" dirty="0"/>
              <a:t>Micro bit 3 receives messages from micro bit 2. Depending on the message, it turns the three servos </a:t>
            </a:r>
            <a:r>
              <a:rPr lang="en-US" b="1" dirty="0">
                <a:solidFill>
                  <a:srgbClr val="FF0000"/>
                </a:solidFill>
              </a:rPr>
              <a:t>either</a:t>
            </a:r>
            <a:r>
              <a:rPr lang="en-US" dirty="0"/>
              <a:t> to the right direction </a:t>
            </a:r>
            <a:r>
              <a:rPr lang="en-US" b="1" dirty="0">
                <a:solidFill>
                  <a:srgbClr val="FF0000"/>
                </a:solidFill>
              </a:rPr>
              <a:t>or</a:t>
            </a:r>
            <a:r>
              <a:rPr lang="en-US" dirty="0"/>
              <a:t> to the left direction.   </a:t>
            </a:r>
          </a:p>
        </p:txBody>
      </p:sp>
      <p:sp>
        <p:nvSpPr>
          <p:cNvPr id="4" name="TextBox 3">
            <a:extLst>
              <a:ext uri="{FF2B5EF4-FFF2-40B4-BE49-F238E27FC236}">
                <a16:creationId xmlns:a16="http://schemas.microsoft.com/office/drawing/2014/main" id="{AA412602-6DE7-4799-8FBF-C91A235A1B86}"/>
              </a:ext>
            </a:extLst>
          </p:cNvPr>
          <p:cNvSpPr txBox="1"/>
          <p:nvPr/>
        </p:nvSpPr>
        <p:spPr>
          <a:xfrm>
            <a:off x="2411896" y="2345634"/>
            <a:ext cx="5486400" cy="830997"/>
          </a:xfrm>
          <a:prstGeom prst="rect">
            <a:avLst/>
          </a:prstGeom>
          <a:noFill/>
        </p:spPr>
        <p:txBody>
          <a:bodyPr wrap="square" rtlCol="0">
            <a:spAutoFit/>
          </a:bodyPr>
          <a:lstStyle/>
          <a:p>
            <a:r>
              <a:rPr lang="en-US" sz="2400" dirty="0"/>
              <a:t>-connected to micro bit 2 by radio.</a:t>
            </a:r>
          </a:p>
          <a:p>
            <a:r>
              <a:rPr lang="en-US" sz="2400" dirty="0"/>
              <a:t>-connected to servo motors 2-3-4.</a:t>
            </a:r>
          </a:p>
        </p:txBody>
      </p:sp>
      <p:pic>
        <p:nvPicPr>
          <p:cNvPr id="3074" name="Picture 2" descr="Micro:bit Board">
            <a:extLst>
              <a:ext uri="{FF2B5EF4-FFF2-40B4-BE49-F238E27FC236}">
                <a16:creationId xmlns:a16="http://schemas.microsoft.com/office/drawing/2014/main" id="{0A0DA543-08BD-4AEA-AE89-96E00CC39C6E}"/>
              </a:ext>
            </a:extLst>
          </p:cNvPr>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5448507" y="202509"/>
            <a:ext cx="2143125" cy="2143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498947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slow"/>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948B1-24BC-4E6F-A00A-4C6CA9D161AF}"/>
              </a:ext>
            </a:extLst>
          </p:cNvPr>
          <p:cNvSpPr>
            <a:spLocks noGrp="1"/>
          </p:cNvSpPr>
          <p:nvPr>
            <p:ph type="title"/>
          </p:nvPr>
        </p:nvSpPr>
        <p:spPr>
          <a:xfrm>
            <a:off x="856060" y="618518"/>
            <a:ext cx="7429499" cy="45719"/>
          </a:xfrm>
        </p:spPr>
        <p:txBody>
          <a:bodyPr>
            <a:normAutofit fontScale="90000"/>
          </a:bodyPr>
          <a:lstStyle/>
          <a:p>
            <a:endParaRPr lang="en-US" dirty="0"/>
          </a:p>
        </p:txBody>
      </p:sp>
      <p:pic>
        <p:nvPicPr>
          <p:cNvPr id="5" name="Content Placeholder 4" descr="Diagram&#10;&#10;Description automatically generated">
            <a:extLst>
              <a:ext uri="{FF2B5EF4-FFF2-40B4-BE49-F238E27FC236}">
                <a16:creationId xmlns:a16="http://schemas.microsoft.com/office/drawing/2014/main" id="{C6B9B935-31BF-4B99-B279-0F4E4835CD7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9026" y="172277"/>
            <a:ext cx="8825948" cy="6533323"/>
          </a:xfrm>
        </p:spPr>
      </p:pic>
    </p:spTree>
    <p:extLst>
      <p:ext uri="{BB962C8B-B14F-4D97-AF65-F5344CB8AC3E}">
        <p14:creationId xmlns:p14="http://schemas.microsoft.com/office/powerpoint/2010/main" val="1522865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slow"/>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48000"/>
                <a:hueMod val="106000"/>
                <a:satMod val="140000"/>
                <a:lumMod val="42000"/>
              </a:schemeClr>
              <a:schemeClr val="bg2">
                <a:tint val="98000"/>
                <a:hueMod val="92000"/>
                <a:satMod val="220000"/>
                <a:lumMod val="90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ED8792-EDA8-4E3B-8A23-2ADDEECB9187}"/>
              </a:ext>
            </a:extLst>
          </p:cNvPr>
          <p:cNvSpPr>
            <a:spLocks noGrp="1"/>
          </p:cNvSpPr>
          <p:nvPr>
            <p:ph type="title"/>
          </p:nvPr>
        </p:nvSpPr>
        <p:spPr>
          <a:xfrm>
            <a:off x="4927467" y="618518"/>
            <a:ext cx="3560316" cy="1478570"/>
          </a:xfrm>
        </p:spPr>
        <p:txBody>
          <a:bodyPr>
            <a:normAutofit/>
          </a:bodyPr>
          <a:lstStyle/>
          <a:p>
            <a:r>
              <a:rPr lang="en-US"/>
              <a:t>Future updates</a:t>
            </a:r>
            <a:endParaRPr lang="en-US" dirty="0"/>
          </a:p>
        </p:txBody>
      </p:sp>
      <p:sp>
        <p:nvSpPr>
          <p:cNvPr id="73" name="Round Diagonal Corner Rectangle 9">
            <a:extLst>
              <a:ext uri="{FF2B5EF4-FFF2-40B4-BE49-F238E27FC236}">
                <a16:creationId xmlns:a16="http://schemas.microsoft.com/office/drawing/2014/main" id="{C16B00BF-AF6E-430A-80B1-9D3C789416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9212" y="808057"/>
            <a:ext cx="3964782" cy="5234394"/>
          </a:xfrm>
          <a:prstGeom prst="round2DiagRect">
            <a:avLst>
              <a:gd name="adj1" fmla="val 7418"/>
              <a:gd name="adj2" fmla="val 0"/>
            </a:avLst>
          </a:prstGeom>
          <a:solidFill>
            <a:srgbClr val="FFFFFF"/>
          </a:solidFill>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124" name="Picture 4" descr="How to Make Compost | Better Homes &amp; Gardens">
            <a:extLst>
              <a:ext uri="{FF2B5EF4-FFF2-40B4-BE49-F238E27FC236}">
                <a16:creationId xmlns:a16="http://schemas.microsoft.com/office/drawing/2014/main" id="{44464604-4687-417E-9203-66C0AE2768B3}"/>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839241" y="1274469"/>
            <a:ext cx="3476687" cy="1946944"/>
          </a:xfrm>
          <a:prstGeom prst="rect">
            <a:avLst/>
          </a:prstGeom>
          <a:noFill/>
          <a:extLst>
            <a:ext uri="{909E8E84-426E-40DD-AFC4-6F175D3DCCD1}">
              <a14:hiddenFill xmlns:a14="http://schemas.microsoft.com/office/drawing/2010/main">
                <a:solidFill>
                  <a:srgbClr val="FFFFFF"/>
                </a:solidFill>
              </a14:hiddenFill>
            </a:ext>
          </a:extLst>
        </p:spPr>
      </p:pic>
      <p:pic>
        <p:nvPicPr>
          <p:cNvPr id="5122" name="Picture 2" descr="RobotWorx - Grippers For Robots">
            <a:extLst>
              <a:ext uri="{FF2B5EF4-FFF2-40B4-BE49-F238E27FC236}">
                <a16:creationId xmlns:a16="http://schemas.microsoft.com/office/drawing/2014/main" id="{2CD18774-5542-4E5D-A246-35DE6659A437}"/>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839241" y="3700090"/>
            <a:ext cx="3476687" cy="1828064"/>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77EA0CCC-BBF6-494A-B05F-E0E226A129D0}"/>
              </a:ext>
            </a:extLst>
          </p:cNvPr>
          <p:cNvSpPr>
            <a:spLocks noGrp="1"/>
          </p:cNvSpPr>
          <p:nvPr>
            <p:ph idx="1"/>
          </p:nvPr>
        </p:nvSpPr>
        <p:spPr>
          <a:xfrm>
            <a:off x="4927467" y="2249487"/>
            <a:ext cx="3560316" cy="3541714"/>
          </a:xfrm>
        </p:spPr>
        <p:txBody>
          <a:bodyPr>
            <a:normAutofit/>
          </a:bodyPr>
          <a:lstStyle/>
          <a:p>
            <a:pPr marL="0" indent="0">
              <a:lnSpc>
                <a:spcPct val="110000"/>
              </a:lnSpc>
              <a:buNone/>
            </a:pPr>
            <a:r>
              <a:rPr lang="en-US" sz="2000" dirty="0"/>
              <a:t>- Automatic feeding system that controls feeding of the plants and measures the vitamins and the nutrition level in the soil.</a:t>
            </a:r>
          </a:p>
          <a:p>
            <a:pPr marL="0" indent="0">
              <a:lnSpc>
                <a:spcPct val="110000"/>
              </a:lnSpc>
              <a:buNone/>
            </a:pPr>
            <a:r>
              <a:rPr lang="en-US" sz="2000" dirty="0"/>
              <a:t>- Huge controlled Grabber to get the trees of three layers and is placed on the ground so it can plant in the replanting areas </a:t>
            </a:r>
          </a:p>
          <a:p>
            <a:pPr marL="0" indent="0">
              <a:lnSpc>
                <a:spcPct val="110000"/>
              </a:lnSpc>
              <a:buNone/>
            </a:pPr>
            <a:r>
              <a:rPr lang="en-US" sz="2000" dirty="0"/>
              <a:t>    </a:t>
            </a:r>
          </a:p>
        </p:txBody>
      </p:sp>
    </p:spTree>
    <p:extLst>
      <p:ext uri="{BB962C8B-B14F-4D97-AF65-F5344CB8AC3E}">
        <p14:creationId xmlns:p14="http://schemas.microsoft.com/office/powerpoint/2010/main" val="19093185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slow"/>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Thank You Robot-04 - Prescience Technology">
            <a:extLst>
              <a:ext uri="{FF2B5EF4-FFF2-40B4-BE49-F238E27FC236}">
                <a16:creationId xmlns:a16="http://schemas.microsoft.com/office/drawing/2014/main" id="{3C2F0B05-9D73-45A9-A80A-7D0FDE61882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39349" y="1439241"/>
            <a:ext cx="3413647" cy="32184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8778359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252C36"/>
      </a:dk2>
      <a:lt2>
        <a:srgbClr val="7C96A3"/>
      </a:lt2>
      <a:accent1>
        <a:srgbClr val="4FD093"/>
      </a:accent1>
      <a:accent2>
        <a:srgbClr val="54BCDF"/>
      </a:accent2>
      <a:accent3>
        <a:srgbClr val="A262D0"/>
      </a:accent3>
      <a:accent4>
        <a:srgbClr val="D7537B"/>
      </a:accent4>
      <a:accent5>
        <a:srgbClr val="E78045"/>
      </a:accent5>
      <a:accent6>
        <a:srgbClr val="84C350"/>
      </a:accent6>
      <a:hlink>
        <a:srgbClr val="22FFFF"/>
      </a:hlink>
      <a:folHlink>
        <a:srgbClr val="9BF3FD"/>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40000"/>
              </a:schemeClr>
            </a:gs>
            <a:gs pos="100000">
              <a:schemeClr val="phClr">
                <a:shade val="92000"/>
                <a:hueMod val="104000"/>
                <a:satMod val="140000"/>
                <a:lumMod val="48000"/>
              </a:schemeClr>
            </a:gs>
          </a:gsLst>
          <a:lin ang="5040000" scaled="0"/>
        </a:gradFill>
        <a:blipFill>
          <a:blip xmlns:r="http://schemas.openxmlformats.org/officeDocument/2006/relationships" r:embed="rId1">
            <a:duotone>
              <a:schemeClr val="phClr">
                <a:shade val="48000"/>
                <a:hueMod val="106000"/>
                <a:satMod val="140000"/>
                <a:lumMod val="42000"/>
              </a:schemeClr>
              <a:schemeClr val="phClr">
                <a:tint val="98000"/>
                <a:hueMod val="92000"/>
                <a:satMod val="220000"/>
                <a:lumMod val="9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142578CA-DEC9-49C3-80AF-C113973CC9A9}"/>
    </a:ext>
  </a:extLst>
</a:theme>
</file>

<file path=docProps/app.xml><?xml version="1.0" encoding="utf-8"?>
<Properties xmlns="http://schemas.openxmlformats.org/officeDocument/2006/extended-properties" xmlns:vt="http://schemas.openxmlformats.org/officeDocument/2006/docPropsVTypes">
  <Template>Circuit</Template>
  <TotalTime>1487</TotalTime>
  <Words>561</Words>
  <Application>Microsoft Office PowerPoint</Application>
  <PresentationFormat>On-screen Show (4:3)</PresentationFormat>
  <Paragraphs>44</Paragraphs>
  <Slides>14</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Tw Cen MT</vt:lpstr>
      <vt:lpstr>Circuit</vt:lpstr>
      <vt:lpstr>Automatic tree farm</vt:lpstr>
      <vt:lpstr>About me</vt:lpstr>
      <vt:lpstr>The problem</vt:lpstr>
      <vt:lpstr>The Solution</vt:lpstr>
      <vt:lpstr>The project idea</vt:lpstr>
      <vt:lpstr>How it works design:</vt:lpstr>
      <vt:lpstr>PowerPoint Presentation</vt:lpstr>
      <vt:lpstr>How it works Micro bit network:</vt:lpstr>
      <vt:lpstr>PowerPoint Presentation</vt:lpstr>
      <vt:lpstr>How it works micro bit network</vt:lpstr>
      <vt:lpstr>How it works micro bit network</vt:lpstr>
      <vt:lpstr>PowerPoint Presentation</vt:lpstr>
      <vt:lpstr>Future updates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Ali Darwich Ismail</dc:creator>
  <cp:lastModifiedBy>Ali Darwich Ismail</cp:lastModifiedBy>
  <cp:revision>43</cp:revision>
  <dcterms:created xsi:type="dcterms:W3CDTF">2021-04-10T06:41:41Z</dcterms:created>
  <dcterms:modified xsi:type="dcterms:W3CDTF">2021-07-29T17:18:40Z</dcterms:modified>
</cp:coreProperties>
</file>